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InSeed Leadership Evolution — v13 MASTERDECK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Crown → Steward • Dual-Mode • Full Appendix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685800" y="3646170"/>
            <a:ext cx="77724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Crown vs Facilitate — Core Reframe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Crown centralizes cognition and power.</a:t>
            </a:r>
          </a:p>
          <a:p>
            <a:pPr lvl="1">
              <a:defRPr sz="1800"/>
            </a:pPr>
            <a:r>
              <a:t>• Stewardship distributes context and capability.</a:t>
            </a:r>
          </a:p>
          <a:p>
            <a:pPr lvl="1">
              <a:defRPr sz="1800"/>
            </a:pPr>
            <a:r>
              <a:t>• Crown creates bottlenecks; Stewardship creates throughput.</a:t>
            </a:r>
          </a:p>
          <a:p>
            <a:pPr lvl="1">
              <a:defRPr sz="1800"/>
            </a:pPr>
            <a:r>
              <a:t>• Crown reacts; Stewards design adaptive systems.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Crown: 'I decree, therefore it is so.'</a:t>
            </a:r>
          </a:p>
          <a:p>
            <a:pPr lvl="1">
              <a:defRPr sz="1600"/>
            </a:pPr>
            <a:r>
              <a:t>• Steward: 'Let the system be smarter than me.'</a:t>
            </a:r>
          </a:p>
          <a:p>
            <a:pPr lvl="1">
              <a:defRPr sz="1600"/>
            </a:pPr>
            <a:r>
              <a:t>• Crown = monarchy with Wi‑Fi.</a:t>
            </a:r>
          </a:p>
          <a:p>
            <a:pPr lvl="1">
              <a:defRPr sz="1600"/>
            </a:pPr>
            <a:r>
              <a:t>• Stewardship = leadership for grownups.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Truth flows upward when fear flows downward less.</a:t>
            </a:r>
          </a:p>
          <a:p>
            <a:pPr lvl="1">
              <a:defRPr sz="1800"/>
            </a:pPr>
            <a:r>
              <a:t>• Incentives drive behavior more than instructions.</a:t>
            </a:r>
          </a:p>
          <a:p>
            <a:pPr lvl="1">
              <a:defRPr sz="1800"/>
            </a:pPr>
            <a:r>
              <a:t>• Bottlenecks reveal where information fears authority.</a:t>
            </a:r>
          </a:p>
          <a:p>
            <a:pPr lvl="1">
              <a:defRPr sz="1800"/>
            </a:pPr>
            <a:r>
              <a:t>• Evolution happens when constraints change.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Legacy orgs = clogged pipes pretending to be fountains.</a:t>
            </a:r>
          </a:p>
          <a:p>
            <a:pPr lvl="1">
              <a:defRPr sz="1600"/>
            </a:pPr>
            <a:r>
              <a:t>• Fear creates performance theatre.</a:t>
            </a:r>
          </a:p>
          <a:p>
            <a:pPr lvl="1">
              <a:defRPr sz="1600"/>
            </a:pPr>
            <a:r>
              <a:t>• If truth lives in the hallway, your meetings are broken.</a:t>
            </a:r>
          </a:p>
          <a:p>
            <a:pPr lvl="1">
              <a:defRPr sz="1600"/>
            </a:pPr>
            <a:r>
              <a:t>• Systems don't lie—people do. Mostly to themselves.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Steward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Lead with inquiry.</a:t>
            </a:r>
          </a:p>
          <a:p>
            <a:pPr lvl="1">
              <a:defRPr sz="1800"/>
            </a:pPr>
            <a:r>
              <a:t>• Expose reasoning structures.</a:t>
            </a:r>
          </a:p>
          <a:p>
            <a:pPr lvl="1">
              <a:defRPr sz="1800"/>
            </a:pPr>
            <a:r>
              <a:t>• Use dissent as strategic signal.</a:t>
            </a:r>
          </a:p>
          <a:p>
            <a:pPr lvl="1">
              <a:defRPr sz="1800"/>
            </a:pPr>
            <a:r>
              <a:t>• Run experiments instead of mandates.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Speak first and watch truth evaporate.</a:t>
            </a:r>
          </a:p>
          <a:p>
            <a:pPr lvl="1">
              <a:defRPr sz="1600"/>
            </a:pPr>
            <a:r>
              <a:t>• Context-hoarding = dysfunction-hoarding.</a:t>
            </a:r>
          </a:p>
          <a:p>
            <a:pPr lvl="1">
              <a:defRPr sz="1600"/>
            </a:pPr>
            <a:r>
              <a:t>• Dissent = free consulting you didn’t pay for.</a:t>
            </a:r>
          </a:p>
          <a:p>
            <a:pPr lvl="1">
              <a:defRPr sz="1600"/>
            </a:pPr>
            <a:r>
              <a:t>• 'Mandates everywhere' = evolution nowhere.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Reflexes to Unlearn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Instant answers.</a:t>
            </a:r>
          </a:p>
          <a:p>
            <a:pPr lvl="1">
              <a:defRPr sz="1800"/>
            </a:pPr>
            <a:r>
              <a:t>• Approval-hoarding.</a:t>
            </a:r>
          </a:p>
          <a:p>
            <a:pPr lvl="1">
              <a:defRPr sz="1800"/>
            </a:pPr>
            <a:r>
              <a:t>• Urgency theatre.</a:t>
            </a:r>
          </a:p>
          <a:p>
            <a:pPr lvl="1">
              <a:defRPr sz="1800"/>
            </a:pPr>
            <a:r>
              <a:t>• Overownership that blocks delegation.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If you sigh before answering: Crown energy.</a:t>
            </a:r>
          </a:p>
          <a:p>
            <a:pPr lvl="1">
              <a:defRPr sz="1600"/>
            </a:pPr>
            <a:r>
              <a:t>• Urgency ≠ importance.</a:t>
            </a:r>
          </a:p>
          <a:p>
            <a:pPr lvl="1">
              <a:defRPr sz="1600"/>
            </a:pPr>
            <a:r>
              <a:t>• Legacy leaders treat urgency like oxygen.</a:t>
            </a:r>
          </a:p>
          <a:p>
            <a:pPr lvl="1">
              <a:defRPr sz="1600"/>
            </a:pPr>
            <a:r>
              <a:t>• If everything depends on you, nothing evolves.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Steward Skillset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Signal detection across teams.</a:t>
            </a:r>
          </a:p>
          <a:p>
            <a:pPr lvl="1">
              <a:defRPr sz="1800"/>
            </a:pPr>
            <a:r>
              <a:t>• Pattern recognition and naming.</a:t>
            </a:r>
          </a:p>
          <a:p>
            <a:pPr lvl="1">
              <a:defRPr sz="1800"/>
            </a:pPr>
            <a:r>
              <a:t>• Constraint &amp; gradient design.</a:t>
            </a:r>
          </a:p>
          <a:p>
            <a:pPr lvl="1">
              <a:defRPr sz="1800"/>
            </a:pPr>
            <a:r>
              <a:t>• Experiment-led evolution.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Your ego is not the OS.</a:t>
            </a:r>
          </a:p>
          <a:p>
            <a:pPr lvl="1">
              <a:defRPr sz="1600"/>
            </a:pPr>
            <a:r>
              <a:t>• Process is the real manager.</a:t>
            </a:r>
          </a:p>
          <a:p>
            <a:pPr lvl="1">
              <a:defRPr sz="1600"/>
            </a:pPr>
            <a:r>
              <a:t>• Gardeners &gt; heroes.</a:t>
            </a:r>
          </a:p>
          <a:p>
            <a:pPr lvl="1">
              <a:defRPr sz="1600"/>
            </a:pPr>
            <a:r>
              <a:t>• Build systems that outlive your moods.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Steward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Reveal reality.</a:t>
            </a:r>
          </a:p>
          <a:p>
            <a:pPr lvl="1">
              <a:defRPr sz="1800"/>
            </a:pPr>
            <a:r>
              <a:t>• Name patterns.</a:t>
            </a:r>
          </a:p>
          <a:p>
            <a:pPr lvl="1">
              <a:defRPr sz="1800"/>
            </a:pPr>
            <a:r>
              <a:t>• Design small experiments.</a:t>
            </a:r>
          </a:p>
          <a:p>
            <a:pPr lvl="1">
              <a:defRPr sz="1800"/>
            </a:pPr>
            <a:r>
              <a:t>• Adjust constraints.</a:t>
            </a:r>
          </a:p>
          <a:p>
            <a:pPr lvl="1">
              <a:defRPr sz="1800"/>
            </a:pPr>
            <a:r>
              <a:t>• Codify what works.</a:t>
            </a:r>
          </a:p>
          <a:p>
            <a:pPr lvl="1">
              <a:defRPr sz="1800"/>
            </a:pPr>
            <a:r>
              <a:t>• Teach others to steward.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Legacy cycle: Deny → Blame → Panic → Edict → Repeat.</a:t>
            </a:r>
          </a:p>
          <a:p>
            <a:pPr lvl="1">
              <a:defRPr sz="1600"/>
            </a:pPr>
            <a:r>
              <a:t>• Steward cycle: Notice → Test → Learn → Scale.</a:t>
            </a:r>
          </a:p>
          <a:p>
            <a:pPr lvl="1">
              <a:defRPr sz="1600"/>
            </a:pPr>
            <a:r>
              <a:t>• Culture = repeated gradients.</a:t>
            </a:r>
          </a:p>
          <a:p>
            <a:pPr lvl="1">
              <a:defRPr sz="1600"/>
            </a:pPr>
            <a:r>
              <a:t>• Evolution beats resolution every time.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30‑Day Steward Upgrade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Week 1: Identify crown reflexes.</a:t>
            </a:r>
          </a:p>
          <a:p>
            <a:pPr lvl="1">
              <a:defRPr sz="1800"/>
            </a:pPr>
            <a:r>
              <a:t>• Week 2: Replace one ritual.</a:t>
            </a:r>
          </a:p>
          <a:p>
            <a:pPr lvl="1">
              <a:defRPr sz="1800"/>
            </a:pPr>
            <a:r>
              <a:t>• Week 3: Delegate a real decision.</a:t>
            </a:r>
          </a:p>
          <a:p>
            <a:pPr lvl="1">
              <a:defRPr sz="1800"/>
            </a:pPr>
            <a:r>
              <a:t>• Week 4: Teach a steward technique.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Side effects include reduced stress.</a:t>
            </a:r>
          </a:p>
          <a:p>
            <a:pPr lvl="1">
              <a:defRPr sz="1600"/>
            </a:pPr>
            <a:r>
              <a:t>• Possible ego withdrawal.</a:t>
            </a:r>
          </a:p>
          <a:p>
            <a:pPr lvl="1">
              <a:defRPr sz="1600"/>
            </a:pPr>
            <a:r>
              <a:t>• Team may appear smarter—because they always were.</a:t>
            </a:r>
          </a:p>
          <a:p>
            <a:pPr lvl="1">
              <a:defRPr sz="1600"/>
            </a:pPr>
            <a:r>
              <a:t>• Leadership may become enjoyable again.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Run one real experiment this week.</a:t>
            </a:r>
          </a:p>
          <a:p>
            <a:pPr lvl="1">
              <a:defRPr sz="1800"/>
            </a:pPr>
            <a:r>
              <a:t>• Explain your reasoning publicly.</a:t>
            </a:r>
          </a:p>
          <a:p>
            <a:pPr lvl="1">
              <a:defRPr sz="1800"/>
            </a:pPr>
            <a:r>
              <a:t>• Watch clarity replace control.</a:t>
            </a:r>
          </a:p>
          <a:p>
            <a:pPr lvl="1">
              <a:defRPr sz="1800"/>
            </a:pPr>
            <a:r>
              <a:t>• More tools coming to InSeed.com.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I teach but I may not be better.</a:t>
            </a:r>
          </a:p>
          <a:p>
            <a:pPr lvl="1">
              <a:defRPr sz="1600"/>
            </a:pPr>
            <a:r>
              <a:t>• If I am different enough, the contrast helps you evolve.</a:t>
            </a:r>
          </a:p>
          <a:p>
            <a:pPr lvl="1">
              <a:defRPr sz="1600"/>
            </a:pPr>
            <a:r>
              <a:t>• Use me as a comparison class.</a:t>
            </a:r>
          </a:p>
          <a:p>
            <a:pPr lvl="1">
              <a:defRPr sz="1600"/>
            </a:pPr>
            <a:r>
              <a:t>• If you surpass me, the system wins.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Appendix I — Unused Concepts &amp; Bonus Material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Legacy roast • Extra models • Alternate jokes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685800" y="3646170"/>
            <a:ext cx="77724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Unused: CEO Bingo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Patterns often seen in legacy executives.</a:t>
            </a:r>
          </a:p>
          <a:p>
            <a:pPr lvl="1">
              <a:defRPr sz="1800"/>
            </a:pPr>
            <a:r>
              <a:t>• Useful for training your pattern radar.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Says 'circle back'.</a:t>
            </a:r>
          </a:p>
          <a:p>
            <a:pPr lvl="1">
              <a:defRPr sz="1600"/>
            </a:pPr>
            <a:r>
              <a:t>• Says 'low-hanging fruit'.</a:t>
            </a:r>
          </a:p>
          <a:p>
            <a:pPr lvl="1">
              <a:defRPr sz="1600"/>
            </a:pPr>
            <a:r>
              <a:t>• Talks synergy without meaning it.</a:t>
            </a:r>
          </a:p>
          <a:p>
            <a:pPr lvl="1">
              <a:defRPr sz="1600"/>
            </a:pPr>
            <a:r>
              <a:t>• Fears silence more than incompetence.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Unused: Visual Satire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Medium contrast material.</a:t>
            </a:r>
          </a:p>
          <a:p>
            <a:pPr lvl="1">
              <a:defRPr sz="1800"/>
            </a:pPr>
            <a:r>
              <a:t>• Useful when teaching through humor.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Clipart addiction indicators.</a:t>
            </a:r>
          </a:p>
          <a:p>
            <a:pPr lvl="1">
              <a:defRPr sz="1600"/>
            </a:pPr>
            <a:r>
              <a:t>• Doodle-based leadership metaphors.</a:t>
            </a:r>
          </a:p>
          <a:p>
            <a:pPr lvl="1">
              <a:defRPr sz="1600"/>
            </a:pPr>
            <a:r>
              <a:t>• Sticky-note culture parodies.</a:t>
            </a:r>
          </a:p>
          <a:p>
            <a:pPr lvl="1">
              <a:defRPr sz="1600"/>
            </a:pPr>
            <a:r>
              <a:t>• Crayon-level emotional regulation.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Unused: Failure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Nostalgia loops.</a:t>
            </a:r>
          </a:p>
          <a:p>
            <a:pPr lvl="1">
              <a:defRPr sz="1800"/>
            </a:pPr>
            <a:r>
              <a:t>• Ego shielding.</a:t>
            </a:r>
          </a:p>
          <a:p>
            <a:pPr lvl="1">
              <a:defRPr sz="1800"/>
            </a:pPr>
            <a:r>
              <a:t>• Complexity hoarding.</a:t>
            </a:r>
          </a:p>
          <a:p>
            <a:pPr lvl="1">
              <a:defRPr sz="1800"/>
            </a:pPr>
            <a:r>
              <a:t>• Success delusion.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The 'We tried that once' reflex.</a:t>
            </a:r>
          </a:p>
          <a:p>
            <a:pPr lvl="1">
              <a:defRPr sz="1600"/>
            </a:pPr>
            <a:r>
              <a:t>• The 'I’ll handle it' martyr move.</a:t>
            </a:r>
          </a:p>
          <a:p>
            <a:pPr lvl="1">
              <a:defRPr sz="1600"/>
            </a:pPr>
            <a:r>
              <a:t>• Complexity is not competence.</a:t>
            </a:r>
          </a:p>
          <a:p>
            <a:pPr lvl="1">
              <a:defRPr sz="1600"/>
            </a:pPr>
            <a:r>
              <a:t>• Success ≠ evolution.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Appendix II — Legacy Autopsy Collection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dives for facilitators teaching others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685800" y="3646170"/>
            <a:ext cx="77724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Autopsy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/>
            </a:pPr>
            <a:r>
              <a:t>SERIOUS MODE:</a:t>
            </a:r>
          </a:p>
          <a:p>
            <a:pPr lvl="1">
              <a:defRPr sz="1800"/>
            </a:pPr>
            <a:r>
              <a:t>• Leadership creates predictable system behavior.</a:t>
            </a:r>
          </a:p>
          <a:p>
            <a:pPr lvl="1">
              <a:defRPr sz="1800"/>
            </a:pPr>
            <a:r>
              <a:t>• Most dysfunction is engineered unintentionally.</a:t>
            </a:r>
          </a:p>
          <a:p>
            <a:pPr lvl="1">
              <a:defRPr sz="1800"/>
            </a:pPr>
            <a:r>
              <a:t>• When authority rises, truth hides.</a:t>
            </a:r>
          </a:p>
          <a:p>
            <a:pPr lvl="1">
              <a:defRPr sz="1800"/>
            </a:pPr>
            <a:r>
              <a:t>• When systems are unclear, people regress.</a:t>
            </a:r>
          </a:p>
          <a:p>
            <a:pPr>
              <a:defRPr b="1" sz="2200"/>
            </a:pPr>
            <a:r>
              <a:t>SNARK MODE:</a:t>
            </a:r>
          </a:p>
          <a:p>
            <a:pPr lvl="1">
              <a:defRPr sz="1600"/>
            </a:pPr>
            <a:r>
              <a:t>• If you design ambiguity, expect chaos.</a:t>
            </a:r>
          </a:p>
          <a:p>
            <a:pPr lvl="1">
              <a:defRPr sz="1600"/>
            </a:pPr>
            <a:r>
              <a:t>• Your org charts cannot save you.</a:t>
            </a:r>
          </a:p>
          <a:p>
            <a:pPr lvl="1">
              <a:defRPr sz="1600"/>
            </a:pPr>
            <a:r>
              <a:t>• Legacy leadership = good intentions, bad physics.</a:t>
            </a:r>
          </a:p>
          <a:p>
            <a:pPr lvl="1">
              <a:defRPr sz="1600"/>
            </a:pPr>
            <a:r>
              <a:t>• If you want adults, stop building daycare systems.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463358"/>
            <a:ext cx="8229600" cy="20116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Rick Ballard • InSeed • +1.416.414.8100 • rballard@InSeed.com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